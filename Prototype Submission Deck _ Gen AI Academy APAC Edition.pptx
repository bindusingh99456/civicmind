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Lst>
  <p:sldSz cx="9144000" cy="5143500" type="screen16x9"/>
  <p:notesSz cx="6858000" cy="9144000"/>
  <p:embeddedFontLst>
    <p:embeddedFont>
      <p:font typeface="Google Sans" panose="020B0604020202020204"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 name="Google Shape;6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 name="Google Shape;80;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i="1"/>
              <a:t>All solutions must leverage Google Cloud technologies. NVIDIA technologies should be included by teams that have selected the NVIDIA problem statement.</a:t>
            </a: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f556d0beb6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3" name="Google Shape;123;g3f556d0beb6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3" name="Google Shape;12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title="Frame 1618872812.png"/>
          <p:cNvPicPr preferRelativeResize="0"/>
          <p:nvPr/>
        </p:nvPicPr>
        <p:blipFill rotWithShape="1">
          <a:blip r:embed="rId3">
            <a:alphaModFix/>
          </a:blip>
          <a:srcRect l="1840" r="1840"/>
          <a:stretch/>
        </p:blipFill>
        <p:spPr>
          <a:xfrm>
            <a:off x="0" y="0"/>
            <a:ext cx="9144003" cy="2827599"/>
          </a:xfrm>
          <a:prstGeom prst="rect">
            <a:avLst/>
          </a:prstGeom>
          <a:noFill/>
          <a:ln>
            <a:noFill/>
          </a:ln>
        </p:spPr>
      </p:pic>
      <p:sp>
        <p:nvSpPr>
          <p:cNvPr id="55" name="Google Shape;55;p13"/>
          <p:cNvSpPr txBox="1"/>
          <p:nvPr/>
        </p:nvSpPr>
        <p:spPr>
          <a:xfrm>
            <a:off x="463125" y="3034275"/>
            <a:ext cx="8270400" cy="1784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Participant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0" i="0" u="none" strike="noStrike" cap="none" dirty="0">
                <a:solidFill>
                  <a:srgbClr val="000000"/>
                </a:solidFill>
                <a:latin typeface="Google Sans"/>
                <a:ea typeface="Google Sans"/>
                <a:cs typeface="Google Sans"/>
                <a:sym typeface="Google Sans"/>
              </a:rPr>
              <a:t>Participant Name: </a:t>
            </a:r>
          </a:p>
          <a:p>
            <a:pPr marL="571500" marR="0" lvl="1" algn="l" rtl="0">
              <a:lnSpc>
                <a:spcPct val="100000"/>
              </a:lnSpc>
              <a:spcBef>
                <a:spcPts val="0"/>
              </a:spcBef>
              <a:spcAft>
                <a:spcPts val="0"/>
              </a:spcAft>
              <a:buClr>
                <a:srgbClr val="000000"/>
              </a:buClr>
              <a:buSzPts val="1800"/>
            </a:pPr>
            <a:r>
              <a:rPr lang="en-GB" sz="1800" dirty="0">
                <a:latin typeface="Google Sans"/>
                <a:ea typeface="Google Sans"/>
                <a:cs typeface="Google Sans"/>
                <a:sym typeface="Google Sans"/>
              </a:rPr>
              <a:t>	Bindu Singh M</a:t>
            </a:r>
          </a:p>
          <a:p>
            <a:pPr marL="571500" marR="0" lvl="1" algn="l" rtl="0">
              <a:lnSpc>
                <a:spcPct val="100000"/>
              </a:lnSpc>
              <a:spcBef>
                <a:spcPts val="0"/>
              </a:spcBef>
              <a:spcAft>
                <a:spcPts val="0"/>
              </a:spcAft>
              <a:buClr>
                <a:srgbClr val="000000"/>
              </a:buClr>
              <a:buSzPts val="1800"/>
            </a:pPr>
            <a:r>
              <a:rPr lang="en-GB" sz="1800" b="0" i="0" u="none" strike="noStrike" cap="none" dirty="0">
                <a:solidFill>
                  <a:srgbClr val="000000"/>
                </a:solidFill>
                <a:latin typeface="Google Sans"/>
                <a:ea typeface="Google Sans"/>
                <a:cs typeface="Google Sans"/>
                <a:sym typeface="Google Sans"/>
              </a:rPr>
              <a:t>	B Harshavardhan</a:t>
            </a:r>
            <a:endParaRPr sz="1800" b="0"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0" i="0" u="none" strike="noStrike" cap="none" dirty="0">
                <a:solidFill>
                  <a:srgbClr val="000000"/>
                </a:solidFill>
                <a:latin typeface="Google Sans"/>
                <a:ea typeface="Google Sans"/>
                <a:cs typeface="Google Sans"/>
                <a:sym typeface="Google Sans"/>
              </a:rPr>
              <a:t>Problem Statement:</a:t>
            </a:r>
            <a:r>
              <a:rPr lang="en-IN" b="1" dirty="0"/>
              <a:t>AI for Better Living and Smarter Communities</a:t>
            </a:r>
            <a:r>
              <a:rPr lang="en-GB" sz="1800" b="0" i="0" u="none" strike="noStrike" cap="none" dirty="0">
                <a:solidFill>
                  <a:srgbClr val="000000"/>
                </a:solidFill>
                <a:latin typeface="Google Sans"/>
                <a:ea typeface="Google Sans"/>
                <a:cs typeface="Google Sans"/>
                <a:sym typeface="Google Sans"/>
              </a:rPr>
              <a:t> </a:t>
            </a:r>
            <a:endParaRPr sz="1800" b="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pic>
        <p:nvPicPr>
          <p:cNvPr id="60" name="Google Shape;60;p14" title="Bg APAC.png"/>
          <p:cNvPicPr preferRelativeResize="0"/>
          <p:nvPr/>
        </p:nvPicPr>
        <p:blipFill rotWithShape="1">
          <a:blip r:embed="rId3">
            <a:alphaModFix/>
          </a:blip>
          <a:srcRect b="88359"/>
          <a:stretch/>
        </p:blipFill>
        <p:spPr>
          <a:xfrm>
            <a:off x="0" y="0"/>
            <a:ext cx="9144000" cy="598749"/>
          </a:xfrm>
          <a:prstGeom prst="rect">
            <a:avLst/>
          </a:prstGeom>
          <a:noFill/>
          <a:ln>
            <a:noFill/>
          </a:ln>
        </p:spPr>
      </p:pic>
      <p:sp>
        <p:nvSpPr>
          <p:cNvPr id="61" name="Google Shape;61;p14"/>
          <p:cNvSpPr txBox="1"/>
          <p:nvPr/>
        </p:nvSpPr>
        <p:spPr>
          <a:xfrm>
            <a:off x="463125" y="787050"/>
            <a:ext cx="8270400" cy="484200"/>
          </a:xfrm>
          <a:prstGeom prst="rect">
            <a:avLst/>
          </a:prstGeom>
          <a:noFill/>
          <a:ln>
            <a:noFill/>
          </a:ln>
        </p:spPr>
        <p:txBody>
          <a:bodyPr spcFirstLastPara="1" wrap="square" lIns="91425" tIns="91425" rIns="91425" bIns="91425" anchor="t" anchorCtr="0">
            <a:noAutofit/>
          </a:bodyPr>
          <a:lstStyle/>
          <a:p>
            <a:pPr lvl="0">
              <a:buSzPts val="1800"/>
            </a:pPr>
            <a:r>
              <a:rPr lang="en-IN" sz="1800" dirty="0" err="1"/>
              <a:t>CivicMind</a:t>
            </a:r>
            <a:r>
              <a:rPr lang="en-IN" sz="1800" dirty="0"/>
              <a:t> AI: Location-Aware Decision Intelligence</a:t>
            </a:r>
            <a:endParaRPr sz="1800" b="1" i="0" u="none" strike="noStrike" cap="none" dirty="0">
              <a:solidFill>
                <a:srgbClr val="000000"/>
              </a:solidFill>
              <a:latin typeface="Google Sans"/>
              <a:ea typeface="Google Sans"/>
              <a:cs typeface="Google Sans"/>
              <a:sym typeface="Google Sans"/>
            </a:endParaRPr>
          </a:p>
        </p:txBody>
      </p:sp>
      <p:sp>
        <p:nvSpPr>
          <p:cNvPr id="62" name="Google Shape;62;p14"/>
          <p:cNvSpPr txBox="1"/>
          <p:nvPr/>
        </p:nvSpPr>
        <p:spPr>
          <a:xfrm>
            <a:off x="436800" y="1198441"/>
            <a:ext cx="8270400" cy="3510300"/>
          </a:xfrm>
          <a:prstGeom prst="rect">
            <a:avLst/>
          </a:prstGeom>
          <a:noFill/>
          <a:ln>
            <a:noFill/>
          </a:ln>
        </p:spPr>
        <p:txBody>
          <a:bodyPr spcFirstLastPara="1" wrap="square" lIns="91425" tIns="91425" rIns="91425" bIns="91425" anchor="t" anchorCtr="0">
            <a:noAutofit/>
          </a:bodyPr>
          <a:lstStyle/>
          <a:p>
            <a:r>
              <a:rPr lang="en-IN" dirty="0"/>
              <a:t>The Core Vision is about making cities smarter. It does this by bringing all the different information that cities have, like traffic, air quality, health services and energy use into one place. This makes it easier for people to understand what is going on in the city and make decisions.</a:t>
            </a:r>
          </a:p>
          <a:p>
            <a:r>
              <a:rPr lang="en-IN" dirty="0"/>
              <a:t>Here are the key parts of this system:</a:t>
            </a:r>
          </a:p>
          <a:p>
            <a:pPr marL="285750" indent="-285750">
              <a:buFont typeface="Arial" panose="020B0604020202020204" pitchFamily="34" charset="0"/>
              <a:buChar char="•"/>
            </a:pPr>
            <a:r>
              <a:rPr lang="en-IN" dirty="0"/>
              <a:t> It uses a kind of computer system that is good at understanding what people are asking for. This system uses something called google-</a:t>
            </a:r>
            <a:r>
              <a:rPr lang="en-IN" dirty="0" err="1"/>
              <a:t>genai</a:t>
            </a:r>
            <a:r>
              <a:rPr lang="en-IN" dirty="0"/>
              <a:t> and Gemini 3.5 Flash to figure out what people need and give them answers.</a:t>
            </a:r>
          </a:p>
          <a:p>
            <a:pPr marL="285750" indent="-285750">
              <a:buFont typeface="Arial" panose="020B0604020202020204" pitchFamily="34" charset="0"/>
              <a:buChar char="•"/>
            </a:pPr>
            <a:r>
              <a:rPr lang="en-IN" dirty="0"/>
              <a:t> If the internet is not working the system can still function because it has a plan. This backup plan uses a kind of math to make sure that the city can still respond to emergencies.</a:t>
            </a:r>
          </a:p>
          <a:p>
            <a:pPr marL="285750" indent="-285750">
              <a:buFont typeface="Arial" panose="020B0604020202020204" pitchFamily="34" charset="0"/>
              <a:buChar char="•"/>
            </a:pPr>
            <a:r>
              <a:rPr lang="en-IN" dirty="0"/>
              <a:t>The Core Vision makes a difference in how cities are managed. It helps people who plan cities and respond to emergencies to do their jobs better. The Core Vision helps them to reduce energy use during peak times make traffic flow better and respond to emergencies faster. The Core Vision is, like a tool that helps cities run smoothly and be better places to live.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pic>
        <p:nvPicPr>
          <p:cNvPr id="67" name="Google Shape;67;p15" title="Bg APAC.png"/>
          <p:cNvPicPr preferRelativeResize="0"/>
          <p:nvPr/>
        </p:nvPicPr>
        <p:blipFill rotWithShape="1">
          <a:blip r:embed="rId3">
            <a:alphaModFix/>
          </a:blip>
          <a:srcRect b="88359"/>
          <a:stretch/>
        </p:blipFill>
        <p:spPr>
          <a:xfrm>
            <a:off x="0" y="0"/>
            <a:ext cx="9144000" cy="598749"/>
          </a:xfrm>
          <a:prstGeom prst="rect">
            <a:avLst/>
          </a:prstGeom>
          <a:noFill/>
          <a:ln>
            <a:noFill/>
          </a:ln>
        </p:spPr>
      </p:pic>
      <p:sp>
        <p:nvSpPr>
          <p:cNvPr id="68" name="Google Shape;68;p15"/>
          <p:cNvSpPr txBox="1"/>
          <p:nvPr/>
        </p:nvSpPr>
        <p:spPr>
          <a:xfrm>
            <a:off x="403652" y="1040780"/>
            <a:ext cx="8558411" cy="3239961"/>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400" b="0" i="0" u="none" strike="noStrike" cap="none" dirty="0">
                <a:solidFill>
                  <a:srgbClr val="000000"/>
                </a:solidFill>
                <a:latin typeface="Google Sans"/>
                <a:ea typeface="Google Sans"/>
                <a:cs typeface="Google Sans"/>
                <a:sym typeface="Google Sans"/>
              </a:rPr>
              <a:t>Type here…</a:t>
            </a:r>
            <a:endParaRPr sz="1400" b="0" i="0" u="none" strike="noStrike" cap="none" dirty="0">
              <a:solidFill>
                <a:srgbClr val="000000"/>
              </a:solidFill>
              <a:latin typeface="Google Sans"/>
              <a:ea typeface="Google Sans"/>
              <a:cs typeface="Google Sans"/>
              <a:sym typeface="Google Sans"/>
            </a:endParaRPr>
          </a:p>
        </p:txBody>
      </p:sp>
      <p:sp>
        <p:nvSpPr>
          <p:cNvPr id="69" name="Google Shape;69;p15"/>
          <p:cNvSpPr txBox="1"/>
          <p:nvPr/>
        </p:nvSpPr>
        <p:spPr>
          <a:xfrm>
            <a:off x="463125" y="1340805"/>
            <a:ext cx="7459200" cy="1908184"/>
          </a:xfrm>
          <a:prstGeom prst="rect">
            <a:avLst/>
          </a:prstGeom>
          <a:noFill/>
          <a:ln>
            <a:noFill/>
          </a:ln>
        </p:spPr>
        <p:txBody>
          <a:bodyPr spcFirstLastPara="1" wrap="square" lIns="91425" tIns="91425" rIns="91425" bIns="91425" anchor="t" anchorCtr="0">
            <a:spAutoFit/>
          </a:bodyPr>
          <a:lstStyle/>
          <a:p>
            <a:pPr marL="285750" indent="-285750">
              <a:buFont typeface="Arial" panose="020B0604020202020204" pitchFamily="34" charset="0"/>
              <a:buChar char="•"/>
            </a:pPr>
            <a:r>
              <a:rPr lang="en-IN" b="1" dirty="0"/>
              <a:t>Approach &amp; Tech</a:t>
            </a:r>
            <a:r>
              <a:rPr lang="en-IN" dirty="0"/>
              <a:t>: Built a "Digital Twin" console using </a:t>
            </a:r>
            <a:r>
              <a:rPr lang="en-IN" b="1" dirty="0"/>
              <a:t>Gemini 2.5 Flash</a:t>
            </a:r>
            <a:r>
              <a:rPr lang="en-IN" dirty="0"/>
              <a:t> for multimodal visual hazard analysis and structured JSON schema for 5-year policy forecasting.</a:t>
            </a:r>
          </a:p>
          <a:p>
            <a:pPr marL="285750" indent="-285750">
              <a:buFont typeface="Arial" panose="020B0604020202020204" pitchFamily="34" charset="0"/>
              <a:buChar char="•"/>
            </a:pPr>
            <a:r>
              <a:rPr lang="en-IN" b="1" dirty="0"/>
              <a:t>Problem &amp; Impact</a:t>
            </a:r>
            <a:r>
              <a:rPr lang="en-IN" dirty="0"/>
              <a:t>: Solves siloed city planning by linking transit, safety, and energy. Cuts emergency response times to </a:t>
            </a:r>
            <a:r>
              <a:rPr lang="en-IN" b="1" dirty="0"/>
              <a:t>7.2 minutes</a:t>
            </a:r>
            <a:r>
              <a:rPr lang="en-IN" dirty="0"/>
              <a:t> and optimizes municipal budgets via predictive simulations.</a:t>
            </a:r>
          </a:p>
          <a:p>
            <a:pPr marL="285750" indent="-285750">
              <a:buFont typeface="Arial" panose="020B0604020202020204" pitchFamily="34" charset="0"/>
              <a:buChar char="•"/>
            </a:pPr>
            <a:r>
              <a:rPr lang="en-IN" b="1" dirty="0"/>
              <a:t>Architecture &amp; Workflow</a:t>
            </a:r>
            <a:r>
              <a:rPr lang="en-IN" dirty="0"/>
              <a:t>: </a:t>
            </a:r>
            <a:r>
              <a:rPr lang="en-IN" b="1" dirty="0"/>
              <a:t>React + TS</a:t>
            </a:r>
            <a:r>
              <a:rPr lang="en-IN" dirty="0"/>
              <a:t> frontend visualizing an animated </a:t>
            </a:r>
            <a:r>
              <a:rPr lang="en-IN" b="1" dirty="0"/>
              <a:t>SVG Blueprint Map</a:t>
            </a:r>
            <a:r>
              <a:rPr lang="en-IN" dirty="0"/>
              <a:t> (live traffic/ambulance loops), powered by </a:t>
            </a:r>
            <a:r>
              <a:rPr lang="en-IN" b="1" dirty="0"/>
              <a:t>Flask/Express</a:t>
            </a:r>
            <a:r>
              <a:rPr lang="en-IN" dirty="0"/>
              <a:t> servers and GPS-aware routing.</a:t>
            </a:r>
          </a:p>
        </p:txBody>
      </p:sp>
      <p:sp>
        <p:nvSpPr>
          <p:cNvPr id="70" name="Google Shape;70;p15"/>
          <p:cNvSpPr txBox="1"/>
          <p:nvPr/>
        </p:nvSpPr>
        <p:spPr>
          <a:xfrm>
            <a:off x="463125" y="530875"/>
            <a:ext cx="8270400" cy="509905"/>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Your solution should be able to explain the following:</a:t>
            </a:r>
            <a:endParaRPr sz="1800" b="1" i="0" u="none" strike="noStrike" cap="none" dirty="0">
              <a:solidFill>
                <a:srgbClr val="000000"/>
              </a:solidFill>
              <a:latin typeface="Google Sans"/>
              <a:ea typeface="Google Sans"/>
              <a:cs typeface="Google Sans"/>
              <a:sym typeface="Google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pic>
        <p:nvPicPr>
          <p:cNvPr id="75" name="Google Shape;75;p16" title="Bg APAC.png"/>
          <p:cNvPicPr preferRelativeResize="0"/>
          <p:nvPr/>
        </p:nvPicPr>
        <p:blipFill rotWithShape="1">
          <a:blip r:embed="rId3">
            <a:alphaModFix/>
          </a:blip>
          <a:srcRect b="88359"/>
          <a:stretch/>
        </p:blipFill>
        <p:spPr>
          <a:xfrm>
            <a:off x="0" y="0"/>
            <a:ext cx="9144000" cy="598749"/>
          </a:xfrm>
          <a:prstGeom prst="rect">
            <a:avLst/>
          </a:prstGeom>
          <a:noFill/>
          <a:ln>
            <a:noFill/>
          </a:ln>
        </p:spPr>
      </p:pic>
      <p:sp>
        <p:nvSpPr>
          <p:cNvPr id="76" name="Google Shape;76;p16"/>
          <p:cNvSpPr txBox="1"/>
          <p:nvPr/>
        </p:nvSpPr>
        <p:spPr>
          <a:xfrm>
            <a:off x="436800" y="509225"/>
            <a:ext cx="8270400" cy="328072"/>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Opportunities</a:t>
            </a:r>
            <a:endParaRPr sz="1800" b="1" i="0" u="none" strike="noStrike" cap="none" dirty="0">
              <a:solidFill>
                <a:srgbClr val="000000"/>
              </a:solidFill>
              <a:latin typeface="Google Sans"/>
              <a:ea typeface="Google Sans"/>
              <a:cs typeface="Google Sans"/>
              <a:sym typeface="Google Sans"/>
            </a:endParaRPr>
          </a:p>
        </p:txBody>
      </p:sp>
      <p:sp>
        <p:nvSpPr>
          <p:cNvPr id="77" name="Google Shape;77;p16"/>
          <p:cNvSpPr txBox="1"/>
          <p:nvPr/>
        </p:nvSpPr>
        <p:spPr>
          <a:xfrm>
            <a:off x="52039" y="837297"/>
            <a:ext cx="8655161" cy="4075332"/>
          </a:xfrm>
          <a:prstGeom prst="rect">
            <a:avLst/>
          </a:prstGeom>
          <a:noFill/>
          <a:ln>
            <a:noFill/>
          </a:ln>
        </p:spPr>
        <p:txBody>
          <a:bodyPr spcFirstLastPara="1" wrap="square" lIns="91425" tIns="91425" rIns="91425" bIns="91425" anchor="t" anchorCtr="0">
            <a:noAutofit/>
          </a:bodyPr>
          <a:lstStyle/>
          <a:p>
            <a:pPr marL="342900" lvl="0" indent="-342900">
              <a:buSzPts val="1400"/>
              <a:buFont typeface="+mj-lt"/>
              <a:buAutoNum type="arabicPeriod"/>
            </a:pPr>
            <a:r>
              <a:rPr lang="en-IN" dirty="0"/>
              <a:t>Market and Scalability Opportunities:</a:t>
            </a:r>
          </a:p>
          <a:p>
            <a:pPr marL="285750" lvl="8" indent="-285750">
              <a:buFont typeface="Arial" panose="020B0604020202020204" pitchFamily="34" charset="0"/>
              <a:buChar char="•"/>
            </a:pPr>
            <a:r>
              <a:rPr lang="en-US" dirty="0">
                <a:latin typeface="Google Sans"/>
                <a:ea typeface="Google Sans"/>
                <a:cs typeface="Google Sans"/>
                <a:sym typeface="Google Sans"/>
              </a:rPr>
              <a:t>T</a:t>
            </a:r>
            <a:r>
              <a:rPr lang="en-IN" dirty="0"/>
              <a:t>his is a match for big cities in the APAC region that are growing fast and starting to use smart city technology.</a:t>
            </a:r>
          </a:p>
          <a:p>
            <a:pPr marL="285750" lvl="8" indent="-285750">
              <a:buFont typeface="Arial" panose="020B0604020202020204" pitchFamily="34" charset="0"/>
              <a:buChar char="•"/>
            </a:pPr>
            <a:r>
              <a:rPr lang="en-IN" dirty="0"/>
              <a:t>The Market and Scalability Opportunities of this can be expanded to serve people.</a:t>
            </a:r>
          </a:p>
          <a:p>
            <a:pPr marL="285750" lvl="8" indent="-285750">
              <a:buFont typeface="Arial" panose="020B0604020202020204" pitchFamily="34" charset="0"/>
              <a:buChar char="•"/>
            </a:pPr>
            <a:r>
              <a:rPr lang="en-IN" dirty="0"/>
              <a:t>It can serve university campuses or industrial parks or big companies that need help with emergencies and utilities, in the Market and Scalability Opportunities.</a:t>
            </a:r>
          </a:p>
          <a:p>
            <a:pPr marL="342900" indent="-342900">
              <a:buFont typeface="+mj-lt"/>
              <a:buAutoNum type="arabicPeriod"/>
            </a:pPr>
            <a:r>
              <a:rPr lang="en-IN" dirty="0"/>
              <a:t>How </a:t>
            </a:r>
            <a:r>
              <a:rPr lang="en-IN" dirty="0" err="1"/>
              <a:t>CivicMind</a:t>
            </a:r>
            <a:r>
              <a:rPr lang="en-IN" dirty="0"/>
              <a:t> AI Differs from Existing Ideas:</a:t>
            </a:r>
          </a:p>
          <a:p>
            <a:pPr marL="285750" indent="-285750">
              <a:buFont typeface="Arial" panose="020B0604020202020204" pitchFamily="34" charset="0"/>
              <a:buChar char="•"/>
            </a:pPr>
            <a:r>
              <a:rPr lang="en-IN" dirty="0" err="1"/>
              <a:t>CivicMind</a:t>
            </a:r>
            <a:r>
              <a:rPr lang="en-IN" dirty="0"/>
              <a:t> AI is different because it does things that other smart city dashboards do not do. These dashboards only show what happened in the past. </a:t>
            </a:r>
            <a:r>
              <a:rPr lang="en-IN" dirty="0" err="1"/>
              <a:t>CivicMind</a:t>
            </a:r>
            <a:r>
              <a:rPr lang="en-IN" dirty="0"/>
              <a:t> AI gives advice on what to do and makes changes, to policies on its own.</a:t>
            </a:r>
          </a:p>
          <a:p>
            <a:pPr marL="285750" indent="-285750">
              <a:buFont typeface="Arial" panose="020B0604020202020204" pitchFamily="34" charset="0"/>
              <a:buChar char="•"/>
            </a:pPr>
            <a:r>
              <a:rPr lang="en-IN" dirty="0"/>
              <a:t>One big difference is that </a:t>
            </a:r>
            <a:r>
              <a:rPr lang="en-IN" dirty="0" err="1"/>
              <a:t>CivicMind</a:t>
            </a:r>
            <a:r>
              <a:rPr lang="en-IN" dirty="0"/>
              <a:t> AI keeps working when the internet is not available. Other tools that use the cloud stop working if the internet connection is lost. </a:t>
            </a:r>
            <a:r>
              <a:rPr lang="en-IN" dirty="0" err="1"/>
              <a:t>CivicMind</a:t>
            </a:r>
            <a:r>
              <a:rPr lang="en-IN" dirty="0"/>
              <a:t> AI can still work because it can process information on its own.</a:t>
            </a:r>
          </a:p>
          <a:p>
            <a:pPr marL="342900" indent="-342900">
              <a:buFont typeface="+mj-lt"/>
              <a:buAutoNum type="arabicPeriod"/>
            </a:pPr>
            <a:r>
              <a:rPr lang="en-IN" dirty="0"/>
              <a:t>What Makes </a:t>
            </a:r>
            <a:r>
              <a:rPr lang="en-IN" dirty="0" err="1"/>
              <a:t>CivicMind</a:t>
            </a:r>
            <a:r>
              <a:rPr lang="en-IN" dirty="0"/>
              <a:t> AI Special:</a:t>
            </a:r>
          </a:p>
          <a:p>
            <a:pPr marL="285750" indent="-285750">
              <a:buFont typeface="Arial" panose="020B0604020202020204" pitchFamily="34" charset="0"/>
              <a:buChar char="•"/>
            </a:pPr>
            <a:r>
              <a:rPr lang="en-IN" dirty="0" err="1"/>
              <a:t>CivicMind</a:t>
            </a:r>
            <a:r>
              <a:rPr lang="en-IN" dirty="0"/>
              <a:t> AI has something that no other platform has. It is called Resilient Location-Aware Intelligence. This means it is the system that uses advanced reasoning from Gemini and also has a backup plan. This backup plan uses math to make sure that emergency services and resources can still be sent even if the whole network is down. </a:t>
            </a:r>
            <a:r>
              <a:rPr lang="en-IN" dirty="0" err="1"/>
              <a:t>CivicMind</a:t>
            </a:r>
            <a:r>
              <a:rPr lang="en-IN" dirty="0"/>
              <a:t> AI never fails to do these things even when everything else is not working.</a:t>
            </a:r>
          </a:p>
          <a:p>
            <a:pPr lvl="3">
              <a:buSzPts val="1400"/>
            </a:pPr>
            <a:endParaRPr b="0" i="0" u="none" strike="noStrike" cap="none" dirty="0">
              <a:solidFill>
                <a:srgbClr val="000000"/>
              </a:solidFill>
              <a:latin typeface="Google Sans"/>
              <a:ea typeface="Google Sans"/>
              <a:cs typeface="Google Sans"/>
              <a:sym typeface="Google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pic>
        <p:nvPicPr>
          <p:cNvPr id="82" name="Google Shape;82;p17" title="Bg APAC.png"/>
          <p:cNvPicPr preferRelativeResize="0"/>
          <p:nvPr/>
        </p:nvPicPr>
        <p:blipFill rotWithShape="1">
          <a:blip r:embed="rId3">
            <a:alphaModFix/>
          </a:blip>
          <a:srcRect b="88359"/>
          <a:stretch/>
        </p:blipFill>
        <p:spPr>
          <a:xfrm>
            <a:off x="0" y="0"/>
            <a:ext cx="9144000" cy="598749"/>
          </a:xfrm>
          <a:prstGeom prst="rect">
            <a:avLst/>
          </a:prstGeom>
          <a:noFill/>
          <a:ln>
            <a:noFill/>
          </a:ln>
        </p:spPr>
      </p:pic>
      <p:sp>
        <p:nvSpPr>
          <p:cNvPr id="83" name="Google Shape;83;p17"/>
          <p:cNvSpPr txBox="1"/>
          <p:nvPr/>
        </p:nvSpPr>
        <p:spPr>
          <a:xfrm>
            <a:off x="463125" y="787050"/>
            <a:ext cx="8270400" cy="48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000000"/>
                </a:solidFill>
                <a:latin typeface="Google Sans"/>
                <a:ea typeface="Google Sans"/>
                <a:cs typeface="Google Sans"/>
                <a:sym typeface="Google Sans"/>
              </a:rPr>
              <a:t>List of features offered by the solution</a:t>
            </a:r>
            <a:endParaRPr sz="1800" b="1" i="0" u="none" strike="noStrike" cap="none">
              <a:solidFill>
                <a:srgbClr val="000000"/>
              </a:solidFill>
              <a:latin typeface="Google Sans"/>
              <a:ea typeface="Google Sans"/>
              <a:cs typeface="Google Sans"/>
              <a:sym typeface="Google Sans"/>
            </a:endParaRPr>
          </a:p>
        </p:txBody>
      </p:sp>
      <p:sp>
        <p:nvSpPr>
          <p:cNvPr id="84" name="Google Shape;84;p17"/>
          <p:cNvSpPr txBox="1"/>
          <p:nvPr/>
        </p:nvSpPr>
        <p:spPr>
          <a:xfrm>
            <a:off x="463125" y="1101798"/>
            <a:ext cx="8270400" cy="3510300"/>
          </a:xfrm>
          <a:prstGeom prst="rect">
            <a:avLst/>
          </a:prstGeom>
          <a:noFill/>
          <a:ln>
            <a:noFill/>
          </a:ln>
        </p:spPr>
        <p:txBody>
          <a:bodyPr spcFirstLastPara="1" wrap="square" lIns="91425" tIns="91425" rIns="91425" bIns="91425" anchor="t" anchorCtr="0">
            <a:noAutofit/>
          </a:bodyPr>
          <a:lstStyle/>
          <a:p>
            <a:pPr marL="342900" indent="-342900">
              <a:buFont typeface="+mj-lt"/>
              <a:buAutoNum type="arabicPeriod"/>
            </a:pPr>
            <a:r>
              <a:rPr lang="en-IN" b="1" dirty="0"/>
              <a:t>Location-Aware AI Consultation:</a:t>
            </a:r>
            <a:r>
              <a:rPr lang="en-IN" dirty="0"/>
              <a:t> Injects live client GPS coordinates (latitude and longitude arrays) directly into the model’s system instructions, providing hyper-localized, context-specific municipal policy advice. </a:t>
            </a:r>
          </a:p>
          <a:p>
            <a:pPr marL="342900" indent="-342900">
              <a:buFont typeface="+mj-lt"/>
              <a:buAutoNum type="arabicPeriod"/>
            </a:pPr>
            <a:r>
              <a:rPr lang="en-IN" b="1" dirty="0"/>
              <a:t>Resilient Dual-Engine Core:</a:t>
            </a:r>
            <a:r>
              <a:rPr lang="en-IN" dirty="0"/>
              <a:t> Pairs the advanced contextual reasoning of </a:t>
            </a:r>
            <a:r>
              <a:rPr lang="en-IN" b="1" dirty="0"/>
              <a:t>Gemini 3.5 Flash</a:t>
            </a:r>
            <a:r>
              <a:rPr lang="en-IN" dirty="0"/>
              <a:t> with an automatic local fallback mechanism. </a:t>
            </a:r>
          </a:p>
          <a:p>
            <a:pPr marL="342900" indent="-342900">
              <a:buFont typeface="+mj-lt"/>
              <a:buAutoNum type="arabicPeriod"/>
            </a:pPr>
            <a:r>
              <a:rPr lang="en-IN" b="1" dirty="0"/>
              <a:t>Deterministic GIS Fallback Engine:</a:t>
            </a:r>
            <a:r>
              <a:rPr lang="en-IN" dirty="0"/>
              <a:t> Features a math-driven </a:t>
            </a:r>
            <a:r>
              <a:rPr lang="en-IN" b="1" dirty="0"/>
              <a:t>Haversine Matrix Model</a:t>
            </a:r>
            <a:r>
              <a:rPr lang="en-IN" dirty="0"/>
              <a:t> that instantly calculates physical distances and checks resource availability (like open trauma beds) even when disconnected from the cloud. </a:t>
            </a:r>
          </a:p>
          <a:p>
            <a:pPr marL="342900" indent="-342900">
              <a:buFont typeface="+mj-lt"/>
              <a:buAutoNum type="arabicPeriod"/>
            </a:pPr>
            <a:r>
              <a:rPr lang="en-IN" b="1" dirty="0"/>
              <a:t>Multi-Domain Telemetry Simulators:</a:t>
            </a:r>
            <a:r>
              <a:rPr lang="en-IN" dirty="0"/>
              <a:t> Ingests and processes active datasets across eight core municipal sectors, including Urban Mobility, Smart Grid Utilities, Environmental Health (AQI), and Public Safety. </a:t>
            </a:r>
          </a:p>
          <a:p>
            <a:pPr marL="342900" indent="-342900">
              <a:buFont typeface="+mj-lt"/>
              <a:buAutoNum type="arabicPeriod"/>
            </a:pPr>
            <a:r>
              <a:rPr lang="en-IN" b="1" dirty="0"/>
              <a:t>Real-Time Predictive Risk Alerting:</a:t>
            </a:r>
            <a:r>
              <a:rPr lang="en-IN" dirty="0"/>
              <a:t> Generates dynamic risk-assessment maps, bottleneck warnings, and load-shedding projections with explicit verification matrices. </a:t>
            </a:r>
          </a:p>
          <a:p>
            <a:pPr marL="342900" indent="-342900">
              <a:buFont typeface="+mj-lt"/>
              <a:buAutoNum type="arabicPeriod"/>
            </a:pPr>
            <a:r>
              <a:rPr lang="en-IN" b="1" dirty="0"/>
              <a:t>Structured Executive Action Plans:</a:t>
            </a:r>
            <a:r>
              <a:rPr lang="en-IN" dirty="0"/>
              <a:t> Transforms complex relational arrays into high-clarity Markdown outputs, complete with scannable layout tables, specific policy directives, and structural confidence intervals.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p18" title="Bg APAC.png"/>
          <p:cNvPicPr preferRelativeResize="0"/>
          <p:nvPr/>
        </p:nvPicPr>
        <p:blipFill rotWithShape="1">
          <a:blip r:embed="rId3">
            <a:alphaModFix/>
          </a:blip>
          <a:srcRect b="88359"/>
          <a:stretch/>
        </p:blipFill>
        <p:spPr>
          <a:xfrm>
            <a:off x="0" y="-6557"/>
            <a:ext cx="9144000" cy="598749"/>
          </a:xfrm>
          <a:prstGeom prst="rect">
            <a:avLst/>
          </a:prstGeom>
          <a:noFill/>
          <a:ln>
            <a:noFill/>
          </a:ln>
        </p:spPr>
      </p:pic>
      <p:sp>
        <p:nvSpPr>
          <p:cNvPr id="90" name="Google Shape;90;p18"/>
          <p:cNvSpPr txBox="1"/>
          <p:nvPr/>
        </p:nvSpPr>
        <p:spPr>
          <a:xfrm>
            <a:off x="436800" y="592192"/>
            <a:ext cx="8270400" cy="48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Process flow diagram or Use-case diagram</a:t>
            </a:r>
            <a:endParaRPr sz="1800" b="1" i="0" u="none" strike="noStrike" cap="none" dirty="0">
              <a:solidFill>
                <a:srgbClr val="000000"/>
              </a:solidFill>
              <a:latin typeface="Google Sans"/>
              <a:ea typeface="Google Sans"/>
              <a:cs typeface="Google Sans"/>
              <a:sym typeface="Google Sans"/>
            </a:endParaRPr>
          </a:p>
        </p:txBody>
      </p:sp>
      <p:sp>
        <p:nvSpPr>
          <p:cNvPr id="91" name="Google Shape;91;p18"/>
          <p:cNvSpPr txBox="1"/>
          <p:nvPr/>
        </p:nvSpPr>
        <p:spPr>
          <a:xfrm>
            <a:off x="436800" y="1138968"/>
            <a:ext cx="8270400" cy="351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Google Sans"/>
              <a:ea typeface="Google Sans"/>
              <a:cs typeface="Google Sans"/>
              <a:sym typeface="Google Sans"/>
            </a:endParaRPr>
          </a:p>
        </p:txBody>
      </p:sp>
      <p:pic>
        <p:nvPicPr>
          <p:cNvPr id="3" name="Picture 2">
            <a:extLst>
              <a:ext uri="{FF2B5EF4-FFF2-40B4-BE49-F238E27FC236}">
                <a16:creationId xmlns:a16="http://schemas.microsoft.com/office/drawing/2014/main" id="{CB87F7F7-21EB-0D24-5B77-BC2771D0FE40}"/>
              </a:ext>
            </a:extLst>
          </p:cNvPr>
          <p:cNvPicPr>
            <a:picLocks noChangeAspect="1"/>
          </p:cNvPicPr>
          <p:nvPr/>
        </p:nvPicPr>
        <p:blipFill>
          <a:blip r:embed="rId4"/>
          <a:stretch>
            <a:fillRect/>
          </a:stretch>
        </p:blipFill>
        <p:spPr>
          <a:xfrm>
            <a:off x="2458332" y="1012588"/>
            <a:ext cx="3455763" cy="40045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pic>
        <p:nvPicPr>
          <p:cNvPr id="96" name="Google Shape;96;p19" title="Bg APAC.png"/>
          <p:cNvPicPr preferRelativeResize="0"/>
          <p:nvPr/>
        </p:nvPicPr>
        <p:blipFill rotWithShape="1">
          <a:blip r:embed="rId3">
            <a:alphaModFix/>
          </a:blip>
          <a:srcRect b="88359"/>
          <a:stretch/>
        </p:blipFill>
        <p:spPr>
          <a:xfrm>
            <a:off x="0" y="0"/>
            <a:ext cx="9144000" cy="598749"/>
          </a:xfrm>
          <a:prstGeom prst="rect">
            <a:avLst/>
          </a:prstGeom>
          <a:noFill/>
          <a:ln>
            <a:noFill/>
          </a:ln>
        </p:spPr>
      </p:pic>
      <p:sp>
        <p:nvSpPr>
          <p:cNvPr id="97" name="Google Shape;97;p19"/>
          <p:cNvSpPr txBox="1"/>
          <p:nvPr/>
        </p:nvSpPr>
        <p:spPr>
          <a:xfrm>
            <a:off x="436800" y="440796"/>
            <a:ext cx="8270400" cy="48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Wireframes/Mock diagrams of the proposed solution </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p:txBody>
      </p:sp>
      <p:sp>
        <p:nvSpPr>
          <p:cNvPr id="98" name="Google Shape;98;p19"/>
          <p:cNvSpPr txBox="1"/>
          <p:nvPr/>
        </p:nvSpPr>
        <p:spPr>
          <a:xfrm>
            <a:off x="351002" y="924996"/>
            <a:ext cx="8270400" cy="351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Google Sans"/>
              <a:ea typeface="Google Sans"/>
              <a:cs typeface="Google Sans"/>
              <a:sym typeface="Google Sans"/>
            </a:endParaRPr>
          </a:p>
        </p:txBody>
      </p:sp>
      <p:pic>
        <p:nvPicPr>
          <p:cNvPr id="3" name="Picture 2">
            <a:extLst>
              <a:ext uri="{FF2B5EF4-FFF2-40B4-BE49-F238E27FC236}">
                <a16:creationId xmlns:a16="http://schemas.microsoft.com/office/drawing/2014/main" id="{96012365-E3A6-BF2C-3D20-E49D7A0199BE}"/>
              </a:ext>
            </a:extLst>
          </p:cNvPr>
          <p:cNvPicPr>
            <a:picLocks noChangeAspect="1"/>
          </p:cNvPicPr>
          <p:nvPr/>
        </p:nvPicPr>
        <p:blipFill>
          <a:blip r:embed="rId4"/>
          <a:stretch>
            <a:fillRect/>
          </a:stretch>
        </p:blipFill>
        <p:spPr>
          <a:xfrm>
            <a:off x="1107686" y="924996"/>
            <a:ext cx="6191947" cy="41279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pic>
        <p:nvPicPr>
          <p:cNvPr id="103" name="Google Shape;103;p20" title="Bg APAC.png"/>
          <p:cNvPicPr preferRelativeResize="0"/>
          <p:nvPr/>
        </p:nvPicPr>
        <p:blipFill rotWithShape="1">
          <a:blip r:embed="rId3">
            <a:alphaModFix/>
          </a:blip>
          <a:srcRect b="88359"/>
          <a:stretch/>
        </p:blipFill>
        <p:spPr>
          <a:xfrm>
            <a:off x="0" y="0"/>
            <a:ext cx="9144000" cy="598749"/>
          </a:xfrm>
          <a:prstGeom prst="rect">
            <a:avLst/>
          </a:prstGeom>
          <a:noFill/>
          <a:ln>
            <a:noFill/>
          </a:ln>
        </p:spPr>
      </p:pic>
      <p:sp>
        <p:nvSpPr>
          <p:cNvPr id="104" name="Google Shape;104;p20"/>
          <p:cNvSpPr txBox="1"/>
          <p:nvPr/>
        </p:nvSpPr>
        <p:spPr>
          <a:xfrm>
            <a:off x="537466" y="598749"/>
            <a:ext cx="8270400" cy="48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Architecture diagram of the proposed solution:</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 </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p:txBody>
      </p:sp>
      <p:sp>
        <p:nvSpPr>
          <p:cNvPr id="105" name="Google Shape;105;p20"/>
          <p:cNvSpPr txBox="1"/>
          <p:nvPr/>
        </p:nvSpPr>
        <p:spPr>
          <a:xfrm>
            <a:off x="463125" y="1184970"/>
            <a:ext cx="8270400" cy="351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Google Sans"/>
              <a:ea typeface="Google Sans"/>
              <a:cs typeface="Google Sans"/>
              <a:sym typeface="Google Sans"/>
            </a:endParaRPr>
          </a:p>
        </p:txBody>
      </p:sp>
      <p:pic>
        <p:nvPicPr>
          <p:cNvPr id="3" name="Picture 2">
            <a:extLst>
              <a:ext uri="{FF2B5EF4-FFF2-40B4-BE49-F238E27FC236}">
                <a16:creationId xmlns:a16="http://schemas.microsoft.com/office/drawing/2014/main" id="{85F0094D-6B29-B8A5-FC3F-E8CCF3A5471A}"/>
              </a:ext>
            </a:extLst>
          </p:cNvPr>
          <p:cNvPicPr>
            <a:picLocks noChangeAspect="1"/>
          </p:cNvPicPr>
          <p:nvPr/>
        </p:nvPicPr>
        <p:blipFill>
          <a:blip r:embed="rId4"/>
          <a:stretch>
            <a:fillRect/>
          </a:stretch>
        </p:blipFill>
        <p:spPr>
          <a:xfrm>
            <a:off x="2378927" y="1221676"/>
            <a:ext cx="3434214" cy="387039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0" name="Google Shape;110;p21" title="Bg APAC.png"/>
          <p:cNvPicPr preferRelativeResize="0"/>
          <p:nvPr/>
        </p:nvPicPr>
        <p:blipFill rotWithShape="1">
          <a:blip r:embed="rId3">
            <a:alphaModFix/>
          </a:blip>
          <a:srcRect b="88359"/>
          <a:stretch/>
        </p:blipFill>
        <p:spPr>
          <a:xfrm>
            <a:off x="0" y="0"/>
            <a:ext cx="9144000" cy="598749"/>
          </a:xfrm>
          <a:prstGeom prst="rect">
            <a:avLst/>
          </a:prstGeom>
          <a:noFill/>
          <a:ln>
            <a:noFill/>
          </a:ln>
        </p:spPr>
      </p:pic>
      <p:sp>
        <p:nvSpPr>
          <p:cNvPr id="111" name="Google Shape;111;p21"/>
          <p:cNvSpPr txBox="1"/>
          <p:nvPr/>
        </p:nvSpPr>
        <p:spPr>
          <a:xfrm>
            <a:off x="463125" y="787050"/>
            <a:ext cx="8270400" cy="48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Technologies / Google / Nvidia Services used in the solution</a:t>
            </a:r>
            <a:br>
              <a:rPr lang="en-GB" sz="1000" b="0" i="0" u="none" strike="noStrike" cap="none" dirty="0">
                <a:solidFill>
                  <a:srgbClr val="000000"/>
                </a:solidFill>
                <a:latin typeface="Google Sans"/>
                <a:ea typeface="Google Sans"/>
                <a:cs typeface="Google Sans"/>
                <a:sym typeface="Google Sans"/>
              </a:rPr>
            </a:br>
            <a:endParaRPr sz="1800" b="1" i="0" u="none" strike="noStrike" cap="none" dirty="0">
              <a:solidFill>
                <a:srgbClr val="000000"/>
              </a:solidFill>
              <a:latin typeface="Google Sans"/>
              <a:ea typeface="Google Sans"/>
              <a:cs typeface="Google Sans"/>
              <a:sym typeface="Google Sans"/>
            </a:endParaRPr>
          </a:p>
        </p:txBody>
      </p:sp>
      <p:sp>
        <p:nvSpPr>
          <p:cNvPr id="112" name="Google Shape;112;p21"/>
          <p:cNvSpPr txBox="1"/>
          <p:nvPr/>
        </p:nvSpPr>
        <p:spPr>
          <a:xfrm>
            <a:off x="463125" y="1180590"/>
            <a:ext cx="8270400" cy="3510300"/>
          </a:xfrm>
          <a:prstGeom prst="rect">
            <a:avLst/>
          </a:prstGeom>
          <a:noFill/>
          <a:ln>
            <a:noFill/>
          </a:ln>
        </p:spPr>
        <p:txBody>
          <a:bodyPr spcFirstLastPara="1" wrap="square" lIns="91425" tIns="91425" rIns="91425" bIns="91425" anchor="t" anchorCtr="0">
            <a:noAutofit/>
          </a:bodyPr>
          <a:lstStyle/>
          <a:p>
            <a:pPr marL="342900" indent="-342900">
              <a:buFont typeface="+mj-lt"/>
              <a:buAutoNum type="arabicPeriod"/>
            </a:pPr>
            <a:r>
              <a:rPr lang="en-IN" b="1" dirty="0"/>
              <a:t>User Query / Sensor Telemetry Ingest</a:t>
            </a:r>
            <a:endParaRPr lang="en-IN" dirty="0"/>
          </a:p>
          <a:p>
            <a:pPr marL="342900" indent="-342900">
              <a:buFont typeface="+mj-lt"/>
              <a:buAutoNum type="arabicPeriod"/>
            </a:pPr>
            <a:r>
              <a:rPr lang="en-IN" b="1" dirty="0"/>
              <a:t>Flask Backend Server (app.py Routing)</a:t>
            </a:r>
            <a:endParaRPr lang="en-IN" dirty="0"/>
          </a:p>
          <a:p>
            <a:pPr marL="342900" indent="-342900">
              <a:buFont typeface="+mj-lt"/>
              <a:buAutoNum type="arabicPeriod"/>
            </a:pPr>
            <a:r>
              <a:rPr lang="en-IN" b="1" dirty="0"/>
              <a:t>Decision Node:</a:t>
            </a:r>
            <a:r>
              <a:rPr lang="en-IN" dirty="0"/>
              <a:t> </a:t>
            </a:r>
            <a:r>
              <a:rPr lang="en-IN" i="1" dirty="0"/>
              <a:t>Is GEMINI_API_KEY Available?</a:t>
            </a:r>
            <a:endParaRPr lang="en-IN" dirty="0"/>
          </a:p>
          <a:p>
            <a:pPr marL="285750" lvl="7" indent="-285750">
              <a:buFont typeface="Arial" panose="020B0604020202020204" pitchFamily="34" charset="0"/>
              <a:buChar char="•"/>
            </a:pPr>
            <a:r>
              <a:rPr lang="en-IN" b="1" dirty="0"/>
              <a:t>YES → Cloud-Native AI Route</a:t>
            </a:r>
            <a:endParaRPr lang="en-IN" dirty="0"/>
          </a:p>
          <a:p>
            <a:pPr marL="285750" lvl="8" indent="-285750">
              <a:buFont typeface="Arial" panose="020B0604020202020204" pitchFamily="34" charset="0"/>
              <a:buChar char="•"/>
            </a:pPr>
            <a:r>
              <a:rPr lang="en-IN" dirty="0"/>
              <a:t>Init: google-</a:t>
            </a:r>
            <a:r>
              <a:rPr lang="en-IN" dirty="0" err="1"/>
              <a:t>genai</a:t>
            </a:r>
            <a:r>
              <a:rPr lang="en-IN" dirty="0"/>
              <a:t> Client</a:t>
            </a:r>
          </a:p>
          <a:p>
            <a:pPr marL="285750" lvl="8" indent="-285750">
              <a:buFont typeface="Arial" panose="020B0604020202020204" pitchFamily="34" charset="0"/>
              <a:buChar char="•"/>
            </a:pPr>
            <a:r>
              <a:rPr lang="en-IN" dirty="0"/>
              <a:t>Model: gemini-3.5-flash</a:t>
            </a:r>
          </a:p>
          <a:p>
            <a:pPr marL="285750" lvl="8" indent="-285750">
              <a:buFont typeface="Arial" panose="020B0604020202020204" pitchFamily="34" charset="0"/>
              <a:buChar char="•"/>
            </a:pPr>
            <a:r>
              <a:rPr lang="en-IN" dirty="0"/>
              <a:t>System Prompt Injection: Live Geolocation Context</a:t>
            </a:r>
          </a:p>
          <a:p>
            <a:pPr marL="342900" indent="-342900">
              <a:buFont typeface="+mj-lt"/>
              <a:buAutoNum type="arabicPeriod"/>
            </a:pPr>
            <a:r>
              <a:rPr lang="en-IN" b="1" dirty="0"/>
              <a:t>NO / EXCEPTION → Deterministic Local Route</a:t>
            </a:r>
            <a:endParaRPr lang="en-IN" dirty="0"/>
          </a:p>
          <a:p>
            <a:pPr marL="285750" lvl="8" indent="-285750">
              <a:buFont typeface="Arial" panose="020B0604020202020204" pitchFamily="34" charset="0"/>
              <a:buChar char="•"/>
            </a:pPr>
            <a:r>
              <a:rPr lang="en-IN" dirty="0"/>
              <a:t>Init: Haversine Matrix | Math Engine</a:t>
            </a:r>
          </a:p>
          <a:p>
            <a:pPr marL="285750" lvl="8" indent="-285750">
              <a:buFont typeface="Arial" panose="020B0604020202020204" pitchFamily="34" charset="0"/>
              <a:buChar char="•"/>
            </a:pPr>
            <a:r>
              <a:rPr lang="en-IN" dirty="0"/>
              <a:t>Data: Pre-cached Local Municipal Registries</a:t>
            </a:r>
          </a:p>
          <a:p>
            <a:pPr marL="342900" indent="-342900">
              <a:buFont typeface="+mj-lt"/>
              <a:buAutoNum type="arabicPeriod"/>
            </a:pPr>
            <a:r>
              <a:rPr lang="en-IN" b="1" dirty="0"/>
              <a:t>Unified Output Generation</a:t>
            </a:r>
            <a:endParaRPr lang="en-IN" dirty="0"/>
          </a:p>
          <a:p>
            <a:pPr marL="285750" lvl="7" indent="-285750">
              <a:buFont typeface="Arial" panose="020B0604020202020204" pitchFamily="34" charset="0"/>
              <a:buChar char="•"/>
            </a:pPr>
            <a:r>
              <a:rPr lang="en-IN" dirty="0"/>
              <a:t>Structured Analytics Markdown Tables</a:t>
            </a:r>
          </a:p>
          <a:p>
            <a:pPr marL="285750" lvl="7" indent="-285750">
              <a:buFont typeface="Arial" panose="020B0604020202020204" pitchFamily="34" charset="0"/>
              <a:buChar char="•"/>
            </a:pPr>
            <a:r>
              <a:rPr lang="en-IN" dirty="0"/>
              <a:t>Actionable Policy Recommendations</a:t>
            </a:r>
          </a:p>
          <a:p>
            <a:pPr marL="285750" lvl="7" indent="-285750">
              <a:buFont typeface="Arial" panose="020B0604020202020204" pitchFamily="34" charset="0"/>
              <a:buChar char="•"/>
            </a:pPr>
            <a:r>
              <a:rPr lang="en-IN" dirty="0"/>
              <a:t>Operational Confidence Metrics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pic>
        <p:nvPicPr>
          <p:cNvPr id="117" name="Google Shape;117;p22" title="Bg APAC.png"/>
          <p:cNvPicPr preferRelativeResize="0"/>
          <p:nvPr/>
        </p:nvPicPr>
        <p:blipFill rotWithShape="1">
          <a:blip r:embed="rId3">
            <a:alphaModFix/>
          </a:blip>
          <a:srcRect b="88359"/>
          <a:stretch/>
        </p:blipFill>
        <p:spPr>
          <a:xfrm>
            <a:off x="0" y="0"/>
            <a:ext cx="9144000" cy="598749"/>
          </a:xfrm>
          <a:prstGeom prst="rect">
            <a:avLst/>
          </a:prstGeom>
          <a:noFill/>
          <a:ln>
            <a:noFill/>
          </a:ln>
        </p:spPr>
      </p:pic>
      <p:sp>
        <p:nvSpPr>
          <p:cNvPr id="118" name="Google Shape;118;p22"/>
          <p:cNvSpPr txBox="1"/>
          <p:nvPr/>
        </p:nvSpPr>
        <p:spPr>
          <a:xfrm>
            <a:off x="679525" y="1014075"/>
            <a:ext cx="7840800" cy="3183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2"/>
              </a:solidFill>
              <a:latin typeface="Arial"/>
              <a:ea typeface="Arial"/>
              <a:cs typeface="Arial"/>
              <a:sym typeface="Arial"/>
            </a:endParaRPr>
          </a:p>
        </p:txBody>
      </p:sp>
      <p:sp>
        <p:nvSpPr>
          <p:cNvPr id="119" name="Google Shape;119;p22"/>
          <p:cNvSpPr txBox="1"/>
          <p:nvPr/>
        </p:nvSpPr>
        <p:spPr>
          <a:xfrm>
            <a:off x="463125" y="787050"/>
            <a:ext cx="8270400" cy="48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000000"/>
                </a:solidFill>
                <a:latin typeface="Google Sans"/>
                <a:ea typeface="Google Sans"/>
                <a:cs typeface="Google Sans"/>
                <a:sym typeface="Google Sans"/>
              </a:rPr>
              <a:t>Snapshots of the prototype</a:t>
            </a:r>
            <a:endParaRPr sz="1800" b="1" i="0" u="none" strike="noStrike" cap="none">
              <a:solidFill>
                <a:srgbClr val="000000"/>
              </a:solidFill>
              <a:latin typeface="Google Sans"/>
              <a:ea typeface="Google Sans"/>
              <a:cs typeface="Google Sans"/>
              <a:sym typeface="Google Sans"/>
            </a:endParaRPr>
          </a:p>
        </p:txBody>
      </p:sp>
      <p:sp>
        <p:nvSpPr>
          <p:cNvPr id="120" name="Google Shape;120;p22"/>
          <p:cNvSpPr txBox="1"/>
          <p:nvPr/>
        </p:nvSpPr>
        <p:spPr>
          <a:xfrm>
            <a:off x="249925" y="1086930"/>
            <a:ext cx="8270400" cy="351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Google Sans"/>
              <a:ea typeface="Google Sans"/>
              <a:cs typeface="Google Sans"/>
              <a:sym typeface="Google Sans"/>
            </a:endParaRPr>
          </a:p>
        </p:txBody>
      </p:sp>
      <p:pic>
        <p:nvPicPr>
          <p:cNvPr id="3" name="Picture 2">
            <a:extLst>
              <a:ext uri="{FF2B5EF4-FFF2-40B4-BE49-F238E27FC236}">
                <a16:creationId xmlns:a16="http://schemas.microsoft.com/office/drawing/2014/main" id="{23E3990F-48EF-4FCB-8ED7-0E6D59E13168}"/>
              </a:ext>
            </a:extLst>
          </p:cNvPr>
          <p:cNvPicPr>
            <a:picLocks noChangeAspect="1"/>
          </p:cNvPicPr>
          <p:nvPr/>
        </p:nvPicPr>
        <p:blipFill>
          <a:blip r:embed="rId4"/>
          <a:stretch>
            <a:fillRect/>
          </a:stretch>
        </p:blipFill>
        <p:spPr>
          <a:xfrm>
            <a:off x="463125" y="1271250"/>
            <a:ext cx="7545659" cy="36847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125" name="Google Shape;125;p23" title="Bg APAC.png"/>
          <p:cNvPicPr preferRelativeResize="0"/>
          <p:nvPr/>
        </p:nvPicPr>
        <p:blipFill rotWithShape="1">
          <a:blip r:embed="rId3">
            <a:alphaModFix/>
          </a:blip>
          <a:srcRect b="88359"/>
          <a:stretch/>
        </p:blipFill>
        <p:spPr>
          <a:xfrm>
            <a:off x="0" y="0"/>
            <a:ext cx="9144000" cy="598749"/>
          </a:xfrm>
          <a:prstGeom prst="rect">
            <a:avLst/>
          </a:prstGeom>
          <a:noFill/>
          <a:ln>
            <a:noFill/>
          </a:ln>
        </p:spPr>
      </p:pic>
      <p:sp>
        <p:nvSpPr>
          <p:cNvPr id="126" name="Google Shape;126;p23"/>
          <p:cNvSpPr txBox="1"/>
          <p:nvPr/>
        </p:nvSpPr>
        <p:spPr>
          <a:xfrm>
            <a:off x="679525" y="1014075"/>
            <a:ext cx="7840800" cy="3183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2"/>
              </a:solidFill>
              <a:latin typeface="Arial"/>
              <a:ea typeface="Arial"/>
              <a:cs typeface="Arial"/>
              <a:sym typeface="Arial"/>
            </a:endParaRPr>
          </a:p>
        </p:txBody>
      </p:sp>
      <p:sp>
        <p:nvSpPr>
          <p:cNvPr id="127" name="Google Shape;127;p23"/>
          <p:cNvSpPr txBox="1"/>
          <p:nvPr/>
        </p:nvSpPr>
        <p:spPr>
          <a:xfrm>
            <a:off x="463125" y="787050"/>
            <a:ext cx="8270400" cy="48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a:latin typeface="Google Sans"/>
                <a:ea typeface="Google Sans"/>
                <a:cs typeface="Google Sans"/>
                <a:sym typeface="Google Sans"/>
              </a:rPr>
              <a:t>Improvements done during prototype refinement phase</a:t>
            </a:r>
            <a:endParaRPr sz="1800" b="1" i="0" u="none" strike="noStrike" cap="none">
              <a:solidFill>
                <a:srgbClr val="000000"/>
              </a:solidFill>
              <a:latin typeface="Google Sans"/>
              <a:ea typeface="Google Sans"/>
              <a:cs typeface="Google Sans"/>
              <a:sym typeface="Google Sans"/>
            </a:endParaRPr>
          </a:p>
        </p:txBody>
      </p:sp>
      <p:sp>
        <p:nvSpPr>
          <p:cNvPr id="128" name="Google Shape;128;p23"/>
          <p:cNvSpPr txBox="1"/>
          <p:nvPr/>
        </p:nvSpPr>
        <p:spPr>
          <a:xfrm>
            <a:off x="463125" y="1124100"/>
            <a:ext cx="8270400" cy="3510300"/>
          </a:xfrm>
          <a:prstGeom prst="rect">
            <a:avLst/>
          </a:prstGeom>
          <a:noFill/>
          <a:ln>
            <a:noFill/>
          </a:ln>
        </p:spPr>
        <p:txBody>
          <a:bodyPr spcFirstLastPara="1" wrap="square" lIns="91425" tIns="91425" rIns="91425" bIns="91425" anchor="t" anchorCtr="0">
            <a:noAutofit/>
          </a:bodyPr>
          <a:lstStyle/>
          <a:p>
            <a:pPr marL="285750" indent="-285750">
              <a:buFont typeface="Arial" panose="020B0604020202020204" pitchFamily="34" charset="0"/>
              <a:buChar char="•"/>
            </a:pPr>
            <a:r>
              <a:rPr lang="en-IN" b="1" dirty="0"/>
              <a:t>Multimodal Upgrades</a:t>
            </a:r>
            <a:r>
              <a:rPr lang="en-IN" dirty="0"/>
              <a:t>: Integrated image uploads so the AI Copilot can visually </a:t>
            </a:r>
            <a:r>
              <a:rPr lang="en-IN" dirty="0" err="1"/>
              <a:t>analyze</a:t>
            </a:r>
            <a:r>
              <a:rPr lang="en-IN" dirty="0"/>
              <a:t> street-level incident photos.</a:t>
            </a:r>
          </a:p>
          <a:p>
            <a:pPr marL="285750" indent="-285750">
              <a:buFont typeface="Arial" panose="020B0604020202020204" pitchFamily="34" charset="0"/>
              <a:buChar char="•"/>
            </a:pPr>
            <a:r>
              <a:rPr lang="en-IN" b="1" dirty="0"/>
              <a:t>Structured Projections</a:t>
            </a:r>
            <a:r>
              <a:rPr lang="en-IN" dirty="0"/>
              <a:t>: Built a "What-If" sandbox utilizing strict JSON Schema structures for verified 5-year forecasts.</a:t>
            </a:r>
          </a:p>
          <a:p>
            <a:pPr marL="285750" indent="-285750">
              <a:buFont typeface="Arial" panose="020B0604020202020204" pitchFamily="34" charset="0"/>
              <a:buChar char="•"/>
            </a:pPr>
            <a:r>
              <a:rPr lang="en-IN" b="1" dirty="0"/>
              <a:t>Visual Twin Map</a:t>
            </a:r>
            <a:r>
              <a:rPr lang="en-IN" dirty="0"/>
              <a:t>: Replaced the static grid with an animated SVG Blueprint map showing live traffic and emergency routes.</a:t>
            </a:r>
          </a:p>
          <a:p>
            <a:pPr marL="285750" indent="-285750">
              <a:buFont typeface="Arial" panose="020B0604020202020204" pitchFamily="34" charset="0"/>
              <a:buChar char="•"/>
            </a:pPr>
            <a:r>
              <a:rPr lang="en-IN" b="1" dirty="0"/>
              <a:t>Voice Control HUD</a:t>
            </a:r>
            <a:r>
              <a:rPr lang="en-IN" dirty="0"/>
              <a:t>: Added Web Speech tools for continuous microphone input (STT) and synthesized voice reports (TTS).</a:t>
            </a:r>
          </a:p>
          <a:p>
            <a:pPr marL="285750" indent="-285750">
              <a:buFont typeface="Arial" panose="020B0604020202020204" pitchFamily="34" charset="0"/>
              <a:buChar char="•"/>
            </a:pPr>
            <a:r>
              <a:rPr lang="en-IN" b="1" dirty="0"/>
              <a:t>Dynamic Telemetry Bindings</a:t>
            </a:r>
            <a:r>
              <a:rPr lang="en-IN" dirty="0"/>
              <a:t>: Tied scenario sliders directly to the backend, enabling the grid to react dynamically in real-time.</a:t>
            </a: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Google Sans"/>
              <a:ea typeface="Google Sans"/>
              <a:cs typeface="Google Sans"/>
              <a:sym typeface="Google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125" name="Google Shape;125;p23" title="Submission deck tq.png"/>
          <p:cNvPicPr preferRelativeResize="0"/>
          <p:nvPr/>
        </p:nvPicPr>
        <p:blipFill rotWithShape="1">
          <a:blip r:embed="rId3">
            <a:alphaModFix/>
          </a:blip>
          <a:srcRect/>
          <a:stretch/>
        </p:blipFill>
        <p:spPr>
          <a:xfrm>
            <a:off x="0" y="0"/>
            <a:ext cx="9143990" cy="51435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113</TotalTime>
  <Words>1013</Words>
  <Application>Microsoft Office PowerPoint</Application>
  <PresentationFormat>On-screen Show (16:9)</PresentationFormat>
  <Paragraphs>61</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Google Sans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 HARSHAVARDHAN</cp:lastModifiedBy>
  <cp:revision>3</cp:revision>
  <dcterms:modified xsi:type="dcterms:W3CDTF">2026-07-26T07:50:32Z</dcterms:modified>
</cp:coreProperties>
</file>